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" y="0"/>
            <a:ext cx="12138660" cy="6858000"/>
          </a:xfrm>
          <a:prstGeom prst="rect">
            <a:avLst/>
          </a:prstGeom>
          <a:solidFill>
            <a:srgbClr val="0A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" y="1714500"/>
            <a:ext cx="12138660" cy="6400"/>
          </a:xfrm>
          <a:prstGeom prst="rect">
            <a:avLst/>
          </a:prstGeom>
          <a:solidFill>
            <a:srgbClr val="0C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" y="3429000"/>
            <a:ext cx="12138660" cy="6400"/>
          </a:xfrm>
          <a:prstGeom prst="rect">
            <a:avLst/>
          </a:prstGeom>
          <a:solidFill>
            <a:srgbClr val="0C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" y="5143500"/>
            <a:ext cx="12138660" cy="6400"/>
          </a:xfrm>
          <a:prstGeom prst="rect">
            <a:avLst/>
          </a:prstGeom>
          <a:solidFill>
            <a:srgbClr val="0C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044952" y="0"/>
            <a:ext cx="6400" cy="6858000"/>
          </a:xfrm>
          <a:prstGeom prst="rect">
            <a:avLst/>
          </a:prstGeom>
          <a:solidFill>
            <a:srgbClr val="0C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89904" y="0"/>
            <a:ext cx="6400" cy="6858000"/>
          </a:xfrm>
          <a:prstGeom prst="rect">
            <a:avLst/>
          </a:prstGeom>
          <a:solidFill>
            <a:srgbClr val="0C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34856" y="0"/>
            <a:ext cx="6400" cy="6858000"/>
          </a:xfrm>
          <a:prstGeom prst="rect">
            <a:avLst/>
          </a:prstGeom>
          <a:solidFill>
            <a:srgbClr val="0C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79" y="731520"/>
            <a:ext cx="5029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0">
                <a:solidFill>
                  <a:srgbClr val="081828"/>
                </a:solidFill>
                <a:latin typeface="Bebas Neue"/>
              </a:rPr>
              <a:t>28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88952" cy="347472"/>
          </a:xfrm>
          <a:prstGeom prst="rect">
            <a:avLst/>
          </a:prstGeom>
          <a:solidFill>
            <a:srgbClr val="0F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9144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84C"/>
                </a:solidFill>
                <a:latin typeface="Barlow Condensed"/>
              </a:rPr>
              <a:t>🇲🇽  MÉXICO  ·  ILCA 7 LÁSER  ·  VELA OLÍMPICA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749808"/>
            <a:ext cx="960120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800">
                <a:solidFill>
                  <a:srgbClr val="F0F4F8"/>
                </a:solidFill>
                <a:latin typeface="Bebas Neue"/>
              </a:rPr>
              <a:t>GERARDO</a:t>
            </a:r>
          </a:p>
          <a:p>
            <a:r>
              <a:rPr sz="11800">
                <a:solidFill>
                  <a:srgbClr val="C9A84C"/>
                </a:solidFill>
                <a:latin typeface="Bebas Neue"/>
              </a:rPr>
              <a:t>BENÍTEZ</a:t>
            </a:r>
          </a:p>
          <a:p>
            <a:r>
              <a:rPr sz="2200">
                <a:solidFill>
                  <a:srgbClr val="A0AEC0"/>
                </a:solidFill>
                <a:latin typeface="Barlow Condensed"/>
              </a:rPr>
              <a:t>S  A  I  L  I  N  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138928"/>
            <a:ext cx="5120640" cy="475488"/>
          </a:xfrm>
          <a:prstGeom prst="rect">
            <a:avLst/>
          </a:prstGeom>
          <a:solidFill>
            <a:srgbClr val="0F2A47"/>
          </a:solidFill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5138928"/>
            <a:ext cx="73152" cy="47548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523036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C96A"/>
                </a:solidFill>
                <a:latin typeface="Barlow Condensed"/>
              </a:rPr>
              <a:t>●  CAMPAÑA OLÍMPICA LA28  ·  CLASIFICADO JJ. CENTROAM.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7607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EC0"/>
                </a:solidFill>
                <a:latin typeface="Barlow Condensed"/>
              </a:rPr>
              <a:t>#RoadToLA28  ·  #TeamGerardo  ·  #MexicoToLA28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57607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A0AEC0"/>
                </a:solidFill>
                <a:latin typeface="Barlow Condensed"/>
              </a:rPr>
              <a:t>JULIO · 2028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F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" y="662940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0AEC0"/>
                </a:solidFill>
                <a:latin typeface="Barlow Condensed"/>
              </a:rPr>
              <a:t>GERARDO BENÍTEZ · CAMPAÑA OLÍMPICA LA28 · #RoadToLA28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75720" y="662940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A0AEC0"/>
                </a:solidFill>
                <a:latin typeface="Barlow Condensed"/>
              </a:rPr>
              <a:t>01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82880"/>
            <a:ext cx="5486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 spc="350">
                <a:solidFill>
                  <a:srgbClr val="C9A84C"/>
                </a:solidFill>
                <a:latin typeface="Barlow Condensed"/>
              </a:rPr>
              <a:t>─  ATLETA · PERFIL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57200"/>
            <a:ext cx="112928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>
                <a:solidFill>
                  <a:srgbClr val="F0F4F8"/>
                </a:solidFill>
                <a:latin typeface="Bebas Neue"/>
              </a:rPr>
              <a:t>Gerardo Benítez</a:t>
            </a:r>
          </a:p>
          <a:p>
            <a:r>
              <a:rPr sz="2800">
                <a:solidFill>
                  <a:srgbClr val="00D4FF"/>
                </a:solidFill>
                <a:latin typeface="Bebas Neue"/>
              </a:rPr>
              <a:t>#1 México · ILCA 7 Láser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627632"/>
            <a:ext cx="11292840" cy="137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0352" y="1719072"/>
            <a:ext cx="4160520" cy="1261872"/>
          </a:xfrm>
          <a:prstGeom prst="rect">
            <a:avLst/>
          </a:prstGeom>
          <a:solidFill>
            <a:srgbClr val="0F2A47"/>
          </a:solidFill>
          <a:ln w="1016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0352" y="1719072"/>
            <a:ext cx="73152" cy="126187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810512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C9A84C"/>
                </a:solidFill>
                <a:latin typeface="Bebas Neue"/>
              </a:rPr>
              <a:t>8+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28600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0F4F8"/>
                </a:solidFill>
                <a:latin typeface="Barlow Condensed"/>
              </a:rPr>
              <a:t>AÑOS CAMPEÓN NACIONAL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560320"/>
            <a:ext cx="3794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AEC0"/>
                </a:solidFill>
                <a:latin typeface="Barlow Condensed"/>
              </a:rPr>
              <a:t>Título 2017–2025 · Múltiples reinados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3136391"/>
            <a:ext cx="4160520" cy="1261872"/>
          </a:xfrm>
          <a:prstGeom prst="rect">
            <a:avLst/>
          </a:prstGeom>
          <a:solidFill>
            <a:srgbClr val="0F2A47"/>
          </a:solidFill>
          <a:ln w="10160">
            <a:solidFill>
              <a:srgbClr val="00E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3136391"/>
            <a:ext cx="73152" cy="1261872"/>
          </a:xfrm>
          <a:prstGeom prst="rect">
            <a:avLst/>
          </a:prstGeom>
          <a:solidFill>
            <a:srgbClr val="00E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227832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00E5A0"/>
                </a:solidFill>
                <a:latin typeface="Bebas Neue"/>
              </a:rPr>
              <a:t>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70332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0F4F8"/>
                </a:solidFill>
                <a:latin typeface="Barlow Condensed"/>
              </a:rPr>
              <a:t>CLASIFICADO  JJ. CAC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977639"/>
            <a:ext cx="3794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AEC0"/>
                </a:solidFill>
                <a:latin typeface="Barlow Condensed"/>
              </a:rPr>
              <a:t>Baní, Rep. Dom. · Jul–Ago 2026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4553712"/>
            <a:ext cx="4160520" cy="1261872"/>
          </a:xfrm>
          <a:prstGeom prst="rect">
            <a:avLst/>
          </a:prstGeom>
          <a:solidFill>
            <a:srgbClr val="0F2A47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30352" y="4553712"/>
            <a:ext cx="73152" cy="126187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645152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00D4FF"/>
                </a:solidFill>
                <a:latin typeface="Bebas Neue"/>
              </a:rPr>
              <a:t>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12064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0F4F8"/>
                </a:solidFill>
                <a:latin typeface="Barlow Condensed"/>
              </a:rPr>
              <a:t>BASE: VALLE DE BRAVO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394960"/>
            <a:ext cx="3794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AEC0"/>
                </a:solidFill>
                <a:latin typeface="Barlow Condensed"/>
              </a:rPr>
              <a:t>Estado de México · condiciones de clase mundial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70832" y="1691640"/>
            <a:ext cx="16459" cy="4800600"/>
          </a:xfrm>
          <a:prstGeom prst="rect">
            <a:avLst/>
          </a:prstGeom>
          <a:solidFill>
            <a:srgbClr val="12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98848" y="18288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Barlow Condensed"/>
              </a:rPr>
              <a:t>RESULTADOS INTERNACIONALES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98848" y="1627632"/>
            <a:ext cx="7360920" cy="137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98848" y="1755648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4F8"/>
                </a:solidFill>
                <a:latin typeface="Calibri"/>
              </a:rPr>
              <a:t>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28032" y="1773936"/>
            <a:ext cx="6949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0F4F8"/>
                </a:solidFill>
                <a:latin typeface="Barlow Condensed"/>
              </a:rPr>
              <a:t>Campeón Nacional ILCA 7 · México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28032" y="2011680"/>
            <a:ext cx="6949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AEC0"/>
                </a:solidFill>
                <a:latin typeface="Barlow Condensed"/>
              </a:rPr>
              <a:t>2017–2025 · Múltiples reinados consecutivos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98848" y="2286000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4F8"/>
                </a:solidFill>
                <a:latin typeface="Calibri"/>
              </a:rPr>
              <a:t>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28032" y="2304288"/>
            <a:ext cx="6949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0F4F8"/>
                </a:solidFill>
                <a:latin typeface="Barlow Condensed"/>
              </a:rPr>
              <a:t>Wesmex Internacional · 1er Lugar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28032" y="2542032"/>
            <a:ext cx="6949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AEC0"/>
                </a:solidFill>
                <a:latin typeface="Barlow Condensed"/>
              </a:rPr>
              <a:t>Regata internacional ·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98848" y="2816352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4F8"/>
                </a:solidFill>
                <a:latin typeface="Calibri"/>
              </a:rPr>
              <a:t>🌊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28032" y="2834640"/>
            <a:ext cx="6949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0F4F8"/>
                </a:solidFill>
                <a:latin typeface="Barlow Condensed"/>
              </a:rPr>
              <a:t>Panpepín · 4.° Lugar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28032" y="3072384"/>
            <a:ext cx="6949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AEC0"/>
                </a:solidFill>
                <a:latin typeface="Barlow Condensed"/>
              </a:rPr>
              <a:t>Regata internacional competitiva ·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98848" y="3346703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4F8"/>
                </a:solidFill>
                <a:latin typeface="Calibri"/>
              </a:rPr>
              <a:t>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28032" y="3364991"/>
            <a:ext cx="6949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0F4F8"/>
                </a:solidFill>
                <a:latin typeface="Barlow Condensed"/>
              </a:rPr>
              <a:t>2.° Lugar · Europa Cup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28032" y="3602735"/>
            <a:ext cx="6949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AEC0"/>
                </a:solidFill>
                <a:latin typeface="Barlow Condensed"/>
              </a:rPr>
              <a:t>Warnemünde, Alemania · 2020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98848" y="3877056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4F8"/>
                </a:solidFill>
                <a:latin typeface="Calibri"/>
              </a:rPr>
              <a:t>🌊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28032" y="3895344"/>
            <a:ext cx="6949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0F4F8"/>
                </a:solidFill>
                <a:latin typeface="Barlow Condensed"/>
              </a:rPr>
              <a:t>16.° Lugar · Miami World Cup Series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28032" y="4133088"/>
            <a:ext cx="6949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AEC0"/>
                </a:solidFill>
                <a:latin typeface="Barlow Condensed"/>
              </a:rPr>
              <a:t>Miami, Florida · 2020 · World Sailing Circuit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98848" y="4407408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4F8"/>
                </a:solidFill>
                <a:latin typeface="Calibri"/>
              </a:rPr>
              <a:t>🌊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28032" y="4425696"/>
            <a:ext cx="6949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0F4F8"/>
                </a:solidFill>
                <a:latin typeface="Barlow Condensed"/>
              </a:rPr>
              <a:t>10.° Lugar · Regata Int. Tenerife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28032" y="4663440"/>
            <a:ext cx="6949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AEC0"/>
                </a:solidFill>
                <a:latin typeface="Barlow Condensed"/>
              </a:rPr>
              <a:t>Tenerife, España · 2021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98848" y="4937759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4F8"/>
                </a:solidFill>
                <a:latin typeface="Calibri"/>
              </a:rPr>
              <a:t>🇺🇸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28032" y="4956047"/>
            <a:ext cx="6949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0F4F8"/>
                </a:solidFill>
                <a:latin typeface="Barlow Condensed"/>
              </a:rPr>
              <a:t>5.° Lugar · US Open Sailing Series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28032" y="5193792"/>
            <a:ext cx="6949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AEC0"/>
                </a:solidFill>
                <a:latin typeface="Barlow Condensed"/>
              </a:rPr>
              <a:t>Long Beach, CA · 2022 · Sede exacta LA28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98848" y="5468112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4F8"/>
                </a:solidFill>
                <a:latin typeface="Calibri"/>
              </a:rPr>
              <a:t>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28032" y="5486399"/>
            <a:ext cx="6949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0F4F8"/>
                </a:solidFill>
                <a:latin typeface="Barlow Condensed"/>
              </a:rPr>
              <a:t>Participación PreOlímpico Marsella 2023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28032" y="5724144"/>
            <a:ext cx="6949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AEC0"/>
                </a:solidFill>
                <a:latin typeface="Barlow Condensed"/>
              </a:rPr>
              <a:t>Francia · 2023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F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30352" y="662940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0AEC0"/>
                </a:solidFill>
                <a:latin typeface="Barlow Condensed"/>
              </a:rPr>
              <a:t>GERARDO BENÍTEZ · CAMPAÑA OLÍMPICA LA28 · #RoadToLA28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75720" y="662940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A0AEC0"/>
                </a:solidFill>
                <a:latin typeface="Barlow Condensed"/>
              </a:rP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3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82880"/>
            <a:ext cx="5486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 spc="350">
                <a:solidFill>
                  <a:srgbClr val="C9A84C"/>
                </a:solidFill>
                <a:latin typeface="Barlow Condensed"/>
              </a:rPr>
              <a:t>─  ¿POR QUÉ YO, Y POR QUÉ AHORA?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457200"/>
            <a:ext cx="112928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200">
                <a:solidFill>
                  <a:srgbClr val="F0F4F8"/>
                </a:solidFill>
                <a:latin typeface="Bebas Neue"/>
              </a:rPr>
              <a:t>La Historia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627632"/>
            <a:ext cx="11292840" cy="137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0352" y="1755648"/>
            <a:ext cx="5577840" cy="4572000"/>
          </a:xfrm>
          <a:prstGeom prst="rect">
            <a:avLst/>
          </a:prstGeom>
          <a:solidFill>
            <a:srgbClr val="0F2A47"/>
          </a:solidFill>
          <a:ln w="1016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1755648"/>
            <a:ext cx="91440" cy="4572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847088"/>
            <a:ext cx="521208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t/>
            </a:r>
          </a:p>
          <a:p>
            <a:pPr algn="l">
              <a:lnSpc>
                <a:spcPct val="118000"/>
              </a:lnSpc>
            </a:pPr>
            <a:r>
              <a:rPr sz="1300" b="0" i="1">
                <a:solidFill>
                  <a:srgbClr val="F0F4F8"/>
                </a:solidFill>
                <a:latin typeface="Barlow"/>
              </a:rPr>
              <a:t>"Tengo 25 años, soy vallesano</a:t>
            </a:r>
          </a:p>
          <a:p>
            <a:pPr algn="l">
              <a:lnSpc>
                <a:spcPct val="118000"/>
              </a:lnSpc>
            </a:pPr>
            <a:r>
              <a:rPr sz="1300" b="0" i="1">
                <a:solidFill>
                  <a:srgbClr val="F0F4F8"/>
                </a:solidFill>
                <a:latin typeface="Barlow"/>
              </a:rPr>
              <a:t>y llevo más de 8 años siendo</a:t>
            </a:r>
          </a:p>
          <a:p>
            <a:pPr algn="l">
              <a:lnSpc>
                <a:spcPct val="118000"/>
              </a:lnSpc>
            </a:pPr>
            <a:r>
              <a:rPr sz="1300" b="0" i="1">
                <a:solidFill>
                  <a:srgbClr val="F0F4F8"/>
                </a:solidFill>
                <a:latin typeface="Barlow"/>
              </a:rPr>
              <a:t>el mejor velerista de México.</a:t>
            </a:r>
          </a:p>
          <a:p>
            <a:pPr algn="l">
              <a:lnSpc>
                <a:spcPct val="118000"/>
              </a:lnSpc>
            </a:pPr>
            <a:r>
              <a:t/>
            </a:r>
          </a:p>
          <a:p>
            <a:pPr algn="l">
              <a:lnSpc>
                <a:spcPct val="118000"/>
              </a:lnSpc>
            </a:pPr>
            <a:r>
              <a:rPr sz="1300" b="0" i="1">
                <a:solidFill>
                  <a:srgbClr val="F0F4F8"/>
                </a:solidFill>
                <a:latin typeface="Barlow"/>
              </a:rPr>
              <a:t>Competí en el PreOlímpico de</a:t>
            </a:r>
          </a:p>
          <a:p>
            <a:pPr algn="l">
              <a:lnSpc>
                <a:spcPct val="118000"/>
              </a:lnSpc>
            </a:pPr>
            <a:r>
              <a:rPr sz="1300" b="0" i="1">
                <a:solidFill>
                  <a:srgbClr val="F0F4F8"/>
                </a:solidFill>
                <a:latin typeface="Barlow"/>
              </a:rPr>
              <a:t>Marsella y en Long Beach —</a:t>
            </a:r>
          </a:p>
          <a:p>
            <a:pPr algn="l">
              <a:lnSpc>
                <a:spcPct val="118000"/>
              </a:lnSpc>
            </a:pPr>
            <a:r>
              <a:rPr sz="1300" b="0" i="1">
                <a:solidFill>
                  <a:srgbClr val="F0F4F8"/>
                </a:solidFill>
                <a:latin typeface="Barlow"/>
              </a:rPr>
              <a:t>la sede exacta de LA28.</a:t>
            </a:r>
          </a:p>
          <a:p>
            <a:pPr algn="l">
              <a:lnSpc>
                <a:spcPct val="118000"/>
              </a:lnSpc>
            </a:pPr>
            <a:r>
              <a:t/>
            </a:r>
          </a:p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F0F4F8"/>
                </a:solidFill>
                <a:latin typeface="Barlow"/>
              </a:rPr>
              <a:t>No soy un atleta que sueña</a:t>
            </a:r>
          </a:p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F0F4F8"/>
                </a:solidFill>
                <a:latin typeface="Barlow"/>
              </a:rPr>
              <a:t>con ir a los Olímpicos.</a:t>
            </a:r>
          </a:p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F0F4F8"/>
                </a:solidFill>
                <a:latin typeface="Barlow"/>
              </a:rPr>
              <a:t>Soy un atleta que ya está</a:t>
            </a:r>
          </a:p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E8C96A"/>
                </a:solidFill>
                <a:latin typeface="Barlow"/>
              </a:rPr>
              <a:t>en el camino."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89320" y="1755648"/>
            <a:ext cx="2788920" cy="1389888"/>
          </a:xfrm>
          <a:prstGeom prst="rect">
            <a:avLst/>
          </a:prstGeom>
          <a:solidFill>
            <a:srgbClr val="0F2A47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1755648"/>
            <a:ext cx="2788920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865376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00D4FF"/>
                </a:solidFill>
                <a:latin typeface="Bebas Neue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37744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0F4F8"/>
                </a:solidFill>
                <a:latin typeface="Barlow Condensed"/>
              </a:rPr>
              <a:t>Vías de clasificación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651760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AEC0"/>
                </a:solidFill>
                <a:latin typeface="Barlow Condensed"/>
              </a:rPr>
              <a:t>Ruta clara hacia LA28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6840" y="1755648"/>
            <a:ext cx="2788920" cy="1389888"/>
          </a:xfrm>
          <a:prstGeom prst="rect">
            <a:avLst/>
          </a:prstGeom>
          <a:solidFill>
            <a:srgbClr val="0F2A47"/>
          </a:solidFill>
          <a:ln w="12700">
            <a:solidFill>
              <a:srgbClr val="00E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006840" y="1755648"/>
            <a:ext cx="2788920" cy="64008"/>
          </a:xfrm>
          <a:prstGeom prst="rect">
            <a:avLst/>
          </a:prstGeom>
          <a:solidFill>
            <a:srgbClr val="00E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1865376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00E5A0"/>
                </a:solidFill>
                <a:latin typeface="Bebas Neue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237744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0F4F8"/>
                </a:solidFill>
                <a:latin typeface="Barlow Condensed"/>
              </a:rPr>
              <a:t>Expertos en el equipo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651760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AEC0"/>
                </a:solidFill>
                <a:latin typeface="Barlow Condensed"/>
              </a:rPr>
              <a:t>Equipo olímpico verificable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89320" y="3310128"/>
            <a:ext cx="2788920" cy="1389888"/>
          </a:xfrm>
          <a:prstGeom prst="rect">
            <a:avLst/>
          </a:prstGeom>
          <a:solidFill>
            <a:srgbClr val="0F2A47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89320" y="3310128"/>
            <a:ext cx="2788920" cy="6400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0" y="3419856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C9A84C"/>
                </a:solidFill>
                <a:latin typeface="Bebas Neue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393192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0F4F8"/>
                </a:solidFill>
                <a:latin typeface="Barlow Condensed"/>
              </a:rPr>
              <a:t>Años en campaña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4206240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AEC0"/>
                </a:solidFill>
                <a:latin typeface="Barlow Condensed"/>
              </a:rPr>
              <a:t>2026 · 2027 · 2028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06840" y="3310128"/>
            <a:ext cx="2788920" cy="1389888"/>
          </a:xfrm>
          <a:prstGeom prst="rect">
            <a:avLst/>
          </a:prstGeom>
          <a:solidFill>
            <a:srgbClr val="0F2A47"/>
          </a:solidFill>
          <a:ln w="12700">
            <a:solidFill>
              <a:srgbClr val="B47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06840" y="3310128"/>
            <a:ext cx="2788920" cy="64008"/>
          </a:xfrm>
          <a:prstGeom prst="rect">
            <a:avLst/>
          </a:prstGeom>
          <a:solidFill>
            <a:srgbClr val="B4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0" y="3419856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B47FFF"/>
                </a:solidFill>
                <a:latin typeface="Bebas Neue"/>
              </a:rPr>
              <a:t>10–12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393192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0F4F8"/>
                </a:solidFill>
                <a:latin typeface="Barlow Condensed"/>
              </a:rPr>
              <a:t>Eventos int. / año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4206240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AEC0"/>
                </a:solidFill>
                <a:latin typeface="Barlow Condensed"/>
              </a:rPr>
              <a:t>6 países del circuito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30352" y="6236208"/>
            <a:ext cx="11292840" cy="292608"/>
          </a:xfrm>
          <a:prstGeom prst="rect">
            <a:avLst/>
          </a:prstGeom>
          <a:solidFill>
            <a:srgbClr val="12200A"/>
          </a:solidFill>
          <a:ln w="6350">
            <a:solidFill>
              <a:srgbClr val="00E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272784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00E5A0"/>
                </a:solidFill>
                <a:latin typeface="Barlow Condensed"/>
              </a:rPr>
              <a:t>💡  Las marcas que entran ANTES de la clasificación obtienen 3 años de narrativa olímpica al menor costo posible.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F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0352" y="662940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0AEC0"/>
                </a:solidFill>
                <a:latin typeface="Barlow Condensed"/>
              </a:rPr>
              <a:t>GERARDO BENÍTEZ · CAMPAÑA OLÍMPICA LA28 · #RoadToLA28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75720" y="662940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A0AEC0"/>
                </a:solidFill>
                <a:latin typeface="Barlow Condensed"/>
              </a:rP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82880"/>
            <a:ext cx="5486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 spc="350">
                <a:solidFill>
                  <a:srgbClr val="C9A84C"/>
                </a:solidFill>
                <a:latin typeface="Barlow Condensed"/>
              </a:rPr>
              <a:t>─  RUTA DE CLASIFICACIÓN 2026–2028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57200"/>
            <a:ext cx="112928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>
                <a:solidFill>
                  <a:srgbClr val="F0F4F8"/>
                </a:solidFill>
                <a:latin typeface="Bebas Neue"/>
              </a:rPr>
              <a:t>De Centroamericanos a los</a:t>
            </a:r>
          </a:p>
          <a:p>
            <a:r>
              <a:rPr sz="4200">
                <a:solidFill>
                  <a:srgbClr val="C9A84C"/>
                </a:solidFill>
                <a:latin typeface="Bebas Neue"/>
              </a:rPr>
              <a:t>Juegos Olímpicos LA28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572768"/>
            <a:ext cx="11292840" cy="137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0352" y="1719072"/>
            <a:ext cx="1938528" cy="2395728"/>
          </a:xfrm>
          <a:prstGeom prst="rect">
            <a:avLst/>
          </a:prstGeom>
          <a:solidFill>
            <a:srgbClr val="0F2A47"/>
          </a:solidFill>
          <a:ln w="190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0352" y="1719072"/>
            <a:ext cx="1938528" cy="6400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10512"/>
            <a:ext cx="17190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0AEC0"/>
                </a:solidFill>
                <a:latin typeface="Barlow Condensed"/>
              </a:rPr>
              <a:t>ETAPA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11679"/>
            <a:ext cx="17190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F4F8"/>
                </a:solidFill>
                <a:latin typeface="Bebas Neue"/>
              </a:rPr>
              <a:t>JUEGOS
CAC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87752"/>
            <a:ext cx="17190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0F4F8"/>
                </a:solidFill>
                <a:latin typeface="Barlow Condensed"/>
              </a:rPr>
              <a:t>Baní, Rep. Dom.
Jul–Ago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136391"/>
            <a:ext cx="17190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E5A0"/>
                </a:solidFill>
                <a:latin typeface="Barlow Condensed"/>
              </a:rPr>
              <a:t>✅ YA CLASIFICADO
(gastos: COM)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68880" y="2889504"/>
            <a:ext cx="320040" cy="12801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24912" y="2834640"/>
            <a:ext cx="64008" cy="118872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88920" y="1719072"/>
            <a:ext cx="1938528" cy="2395728"/>
          </a:xfrm>
          <a:prstGeom prst="rect">
            <a:avLst/>
          </a:prstGeom>
          <a:solidFill>
            <a:srgbClr val="0A1E35"/>
          </a:solidFill>
          <a:ln w="762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88920" y="1719072"/>
            <a:ext cx="1938528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98648" y="1810512"/>
            <a:ext cx="17190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0AEC0"/>
                </a:solidFill>
                <a:latin typeface="Barlow Condensed"/>
              </a:rPr>
              <a:t>ETAPA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98648" y="2011679"/>
            <a:ext cx="17190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F4F8"/>
                </a:solidFill>
                <a:latin typeface="Bebas Neue"/>
              </a:rPr>
              <a:t>CLASIFICATORIO
PAN 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98648" y="2587752"/>
            <a:ext cx="17190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EC0"/>
                </a:solidFill>
                <a:latin typeface="Barlow Condensed"/>
              </a:rPr>
              <a:t>CORK · Sep 2026
Kingston, Canadá
+ OCR Long Beach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98648" y="3136391"/>
            <a:ext cx="17190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0AEC0"/>
                </a:solidFill>
                <a:latin typeface="Barlow Condensed"/>
              </a:rPr>
              <a:t>2 cupos
→ Panamericanos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27448" y="2889504"/>
            <a:ext cx="320040" cy="12801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983479" y="2834640"/>
            <a:ext cx="64008" cy="118872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47488" y="1719072"/>
            <a:ext cx="1938528" cy="2395728"/>
          </a:xfrm>
          <a:prstGeom prst="rect">
            <a:avLst/>
          </a:prstGeom>
          <a:solidFill>
            <a:srgbClr val="0F2A47"/>
          </a:solidFill>
          <a:ln w="190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47488" y="1719072"/>
            <a:ext cx="1938528" cy="6400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57216" y="1810512"/>
            <a:ext cx="17190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0AEC0"/>
                </a:solidFill>
                <a:latin typeface="Barlow Condensed"/>
              </a:rPr>
              <a:t>ETAPA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57216" y="2011679"/>
            <a:ext cx="17190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F4F8"/>
                </a:solidFill>
                <a:latin typeface="Bebas Neue"/>
              </a:rPr>
              <a:t>MUNDIAL
FORTALEZA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57216" y="2587752"/>
            <a:ext cx="17190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0F4F8"/>
                </a:solidFill>
                <a:latin typeface="Barlow Condensed"/>
              </a:rPr>
              <a:t>Ene 2027 · Brasil
ILCA 7 World Champ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57216" y="3136391"/>
            <a:ext cx="17190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C96A"/>
                </a:solidFill>
                <a:latin typeface="Barlow Condensed"/>
              </a:rPr>
              <a:t>★★★★ PRIO. MÁXIMA
Obj: Pase olímpico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86016" y="2889504"/>
            <a:ext cx="320040" cy="12801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42048" y="2834640"/>
            <a:ext cx="64008" cy="118872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06056" y="1719072"/>
            <a:ext cx="1938528" cy="2395728"/>
          </a:xfrm>
          <a:prstGeom prst="rect">
            <a:avLst/>
          </a:prstGeom>
          <a:solidFill>
            <a:srgbClr val="0A1E35"/>
          </a:solidFill>
          <a:ln w="7620">
            <a:solidFill>
              <a:srgbClr val="B47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06056" y="1719072"/>
            <a:ext cx="1938528" cy="64008"/>
          </a:xfrm>
          <a:prstGeom prst="rect">
            <a:avLst/>
          </a:prstGeom>
          <a:solidFill>
            <a:srgbClr val="B4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15783" y="1810512"/>
            <a:ext cx="17190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0AEC0"/>
                </a:solidFill>
                <a:latin typeface="Barlow Condensed"/>
              </a:rPr>
              <a:t>ETAPA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15783" y="2011679"/>
            <a:ext cx="17190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F4F8"/>
                </a:solidFill>
                <a:latin typeface="Bebas Neue"/>
              </a:rPr>
              <a:t>JUEGOS
PANAMERICANOS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15783" y="2587752"/>
            <a:ext cx="17190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EC0"/>
                </a:solidFill>
                <a:latin typeface="Barlow Condensed"/>
              </a:rPr>
              <a:t>Lima 2027 · Perú
Jul–Ago 2027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15783" y="3136391"/>
            <a:ext cx="17190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47FFF"/>
                </a:solidFill>
                <a:latin typeface="Barlow Condensed"/>
              </a:rPr>
              <a:t>🥇 Obj: Medalla de Oro
(gastos: COM)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244584" y="2889504"/>
            <a:ext cx="320040" cy="12801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500615" y="2834640"/>
            <a:ext cx="64008" cy="118872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564624" y="1719072"/>
            <a:ext cx="1938528" cy="2395728"/>
          </a:xfrm>
          <a:prstGeom prst="rect">
            <a:avLst/>
          </a:prstGeom>
          <a:solidFill>
            <a:srgbClr val="0F2A47"/>
          </a:solidFill>
          <a:ln w="19050">
            <a:solidFill>
              <a:srgbClr val="00E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64624" y="1719072"/>
            <a:ext cx="1938528" cy="64008"/>
          </a:xfrm>
          <a:prstGeom prst="rect">
            <a:avLst/>
          </a:prstGeom>
          <a:solidFill>
            <a:srgbClr val="00E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74352" y="1810512"/>
            <a:ext cx="17190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0AEC0"/>
                </a:solidFill>
                <a:latin typeface="Barlow Condensed"/>
              </a:rPr>
              <a:t>🏅 META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74352" y="2011679"/>
            <a:ext cx="17190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F4F8"/>
                </a:solidFill>
                <a:latin typeface="Bebas Neue"/>
              </a:rPr>
              <a:t>JUEGOS
OLÍMPICOS LA28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74352" y="2587752"/>
            <a:ext cx="17190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0F4F8"/>
                </a:solidFill>
                <a:latin typeface="Barlow Condensed"/>
              </a:rPr>
              <a:t>23–26 Jul 2028
Port of L.A.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74352" y="3136391"/>
            <a:ext cx="17190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0AEC0"/>
                </a:solidFill>
                <a:latin typeface="Barlow Condensed"/>
              </a:rPr>
              <a:t>EL OBJETIVO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30352" y="4206240"/>
            <a:ext cx="11292840" cy="347472"/>
          </a:xfrm>
          <a:prstGeom prst="rect">
            <a:avLst/>
          </a:prstGeom>
          <a:solidFill>
            <a:srgbClr val="0A2018"/>
          </a:solidFill>
          <a:ln w="9525">
            <a:solidFill>
              <a:srgbClr val="00E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8368" y="4251959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E5A0"/>
                </a:solidFill>
                <a:latin typeface="Barlow Condensed"/>
              </a:rPr>
              <a:t>✅  FINANCIADO POR COM — Juegos Centroamericanos 2026 + Juegos Panamericanos 2027 cubiertos íntegramente por el Comité Olímpico Mexicano. No incluidos en este presupuesto.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30352" y="4645152"/>
            <a:ext cx="3611880" cy="1874519"/>
          </a:xfrm>
          <a:prstGeom prst="rect">
            <a:avLst/>
          </a:prstGeom>
          <a:solidFill>
            <a:srgbClr val="0F2A47"/>
          </a:solidFill>
          <a:ln w="9525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8368" y="4700016"/>
            <a:ext cx="33558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  <a:latin typeface="Barlow Condensed"/>
              </a:rPr>
              <a:t>OBJ. PRINCIPAL 2027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" y="4901184"/>
            <a:ext cx="33558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F4F8"/>
                </a:solidFill>
                <a:latin typeface="Bebas Neue"/>
              </a:rPr>
              <a:t>Panamericanos Lima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8368" y="5266944"/>
            <a:ext cx="335584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AEC0"/>
                </a:solidFill>
                <a:latin typeface="Barlow Condensed"/>
              </a:rPr>
              <a:t>🥇 Medalla de Oro
+ cupos olímpicos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343400" y="4645152"/>
            <a:ext cx="3611880" cy="1874519"/>
          </a:xfrm>
          <a:prstGeom prst="rect">
            <a:avLst/>
          </a:prstGeom>
          <a:solidFill>
            <a:srgbClr val="0F2A47"/>
          </a:solidFill>
          <a:ln w="9525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471416" y="4700016"/>
            <a:ext cx="33558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  <a:latin typeface="Barlow Condensed"/>
              </a:rPr>
              <a:t>★★★★ EVENTO PICO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471416" y="4901184"/>
            <a:ext cx="33558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F4F8"/>
                </a:solidFill>
                <a:latin typeface="Bebas Neue"/>
              </a:rPr>
              <a:t>Mundial Fortaleza · Ene 2027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471416" y="5266944"/>
            <a:ext cx="335584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AEC0"/>
                </a:solidFill>
                <a:latin typeface="Barlow Condensed"/>
              </a:rPr>
              <a:t>Objetivo: Conseguir
el PASE OLÍMPICO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156448" y="4645152"/>
            <a:ext cx="3611880" cy="1874519"/>
          </a:xfrm>
          <a:prstGeom prst="rect">
            <a:avLst/>
          </a:prstGeom>
          <a:solidFill>
            <a:srgbClr val="0F2A47"/>
          </a:solidFill>
          <a:ln w="9525">
            <a:solidFill>
              <a:srgbClr val="00E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284464" y="4700016"/>
            <a:ext cx="33558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E5A0"/>
                </a:solidFill>
                <a:latin typeface="Barlow Condensed"/>
              </a:rPr>
              <a:t>4 GRAND SLAMS / AÑO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84464" y="4901184"/>
            <a:ext cx="33558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F4F8"/>
                </a:solidFill>
                <a:latin typeface="Bebas Neue"/>
              </a:rPr>
              <a:t>Mallorca · Hyères · Kiel · LB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84464" y="5266944"/>
            <a:ext cx="335584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AEC0"/>
                </a:solidFill>
                <a:latin typeface="Barlow Condensed"/>
              </a:rPr>
              <a:t>Prep + ranking +
exposición de marca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F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30352" y="662940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0AEC0"/>
                </a:solidFill>
                <a:latin typeface="Barlow Condensed"/>
              </a:rPr>
              <a:t>GERARDO BENÍTEZ · CAMPAÑA OLÍMPICA LA28 · #RoadToLA28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475720" y="662940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A0AEC0"/>
                </a:solidFill>
                <a:latin typeface="Barlow Condensed"/>
              </a:rP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82880"/>
            <a:ext cx="5486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 spc="350">
                <a:solidFill>
                  <a:srgbClr val="C9A84C"/>
                </a:solidFill>
                <a:latin typeface="Barlow Condensed"/>
              </a:rPr>
              <a:t>─  EL EQUIPO DETRÁS DEL ATLETA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57200"/>
            <a:ext cx="112928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>
                <a:solidFill>
                  <a:srgbClr val="F0F4F8"/>
                </a:solidFill>
                <a:latin typeface="Bebas Neue"/>
              </a:rPr>
              <a:t>14 Juegos Olímpicos de experiencia</a:t>
            </a:r>
          </a:p>
          <a:p>
            <a:r>
              <a:rPr sz="4000">
                <a:solidFill>
                  <a:srgbClr val="C9A84C"/>
                </a:solidFill>
                <a:latin typeface="Bebas Neue"/>
              </a:rPr>
              <a:t>3 Expertos · 1 Atleta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572768"/>
            <a:ext cx="11292840" cy="137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0352" y="1719072"/>
            <a:ext cx="3611880" cy="4754880"/>
          </a:xfrm>
          <a:prstGeom prst="rect">
            <a:avLst/>
          </a:prstGeom>
          <a:solidFill>
            <a:srgbClr val="0F2A47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0352" y="1719072"/>
            <a:ext cx="3611880" cy="6400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2556" y="1792224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0F4F8"/>
                </a:solidFill>
                <a:latin typeface="Calibri"/>
              </a:rPr>
              <a:t>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212848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9A84C"/>
                </a:solidFill>
                <a:latin typeface="Bebas Neue"/>
              </a:rPr>
              <a:t>DIEGO ROMERO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606040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A0AEC0"/>
                </a:solidFill>
                <a:latin typeface="Barlow Condensed"/>
              </a:rPr>
              <a:t>COACH PRINCIPAL DE VELA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7512" y="2862072"/>
            <a:ext cx="3337560" cy="914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2944368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  <a:latin typeface="Barlow Condensed"/>
              </a:rPr>
              <a:t>→  Ex-Medallista Olímpico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3355848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  <a:latin typeface="Barlow Condensed"/>
              </a:rPr>
              <a:t>→  Tokio 2020 · París 2024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3767328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  <a:latin typeface="Barlow Condensed"/>
              </a:rPr>
              <a:t>→  Top-10 Olímpicos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" y="4178808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  <a:latin typeface="Barlow Condensed"/>
              </a:rPr>
              <a:t>→  100% medallistas entre sus atletas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0" y="1719072"/>
            <a:ext cx="3611880" cy="4754880"/>
          </a:xfrm>
          <a:prstGeom prst="rect">
            <a:avLst/>
          </a:prstGeom>
          <a:solidFill>
            <a:srgbClr val="0F2A47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89120" y="1719072"/>
            <a:ext cx="3611880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21324" y="1792224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0F4F8"/>
                </a:solidFill>
                <a:latin typeface="Calibri"/>
              </a:rPr>
              <a:t>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2212848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D4FF"/>
                </a:solidFill>
                <a:latin typeface="Bebas Neue"/>
              </a:rPr>
              <a:t>MARCELA MARTÍNEZ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2606040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A0AEC0"/>
                </a:solidFill>
                <a:latin typeface="Barlow Condensed"/>
              </a:rPr>
              <a:t>PSIQUIATRA · ALTO RENDIMIENTO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26280" y="2862072"/>
            <a:ext cx="3337560" cy="914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80" y="2944368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  <a:latin typeface="Barlow Condensed"/>
              </a:rPr>
              <a:t>→  6 Juegos Olímpicos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3355848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  <a:latin typeface="Barlow Condensed"/>
              </a:rPr>
              <a:t>→  Única en México con este perfil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3767328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  <a:latin typeface="Barlow Condensed"/>
              </a:rPr>
              <a:t>→  Belém Guerrero 🥈 · Ma.Ro. Espinoza 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4178808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  <a:latin typeface="Barlow Condensed"/>
              </a:rPr>
              <a:t>→  4 años con Gerardo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47888" y="1719072"/>
            <a:ext cx="3611880" cy="4754880"/>
          </a:xfrm>
          <a:prstGeom prst="rect">
            <a:avLst/>
          </a:prstGeom>
          <a:solidFill>
            <a:srgbClr val="0F2A47"/>
          </a:solidFill>
          <a:ln w="12700">
            <a:solidFill>
              <a:srgbClr val="B47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47888" y="1719072"/>
            <a:ext cx="3611880" cy="64008"/>
          </a:xfrm>
          <a:prstGeom prst="rect">
            <a:avLst/>
          </a:prstGeom>
          <a:solidFill>
            <a:srgbClr val="B4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80092" y="1792224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0F4F8"/>
                </a:solidFill>
                <a:latin typeface="Calibri"/>
              </a:rPr>
              <a:t>💪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5048" y="2212848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47FFF"/>
                </a:solidFill>
                <a:latin typeface="Bebas Neue"/>
              </a:rPr>
              <a:t>ERICK ARICEAGA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5048" y="2606040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A0AEC0"/>
                </a:solidFill>
                <a:latin typeface="Barlow Condensed"/>
              </a:rPr>
              <a:t>PREPARADOR FÍSICO · ALTO RENDIMIENTO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385048" y="2862072"/>
            <a:ext cx="3337560" cy="9144"/>
          </a:xfrm>
          <a:prstGeom prst="rect">
            <a:avLst/>
          </a:prstGeom>
          <a:solidFill>
            <a:srgbClr val="B4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85048" y="2944368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  <a:latin typeface="Barlow Condensed"/>
              </a:rPr>
              <a:t>→  🏃 Ex Atleta Nacional · Triatlón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85048" y="3355848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  <a:latin typeface="Barlow Condensed"/>
              </a:rPr>
              <a:t>→  Selección Mexicana de Triatlón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5048" y="3767328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  <a:latin typeface="Barlow Condensed"/>
              </a:rPr>
              <a:t>→  Especialista en resistencia y alta competencia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5048" y="4178808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  <a:latin typeface="Barlow Condensed"/>
              </a:rPr>
              <a:t>→  Visión desde adentro: atleta de élite → preparador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30352" y="6400800"/>
            <a:ext cx="11292840" cy="128016"/>
          </a:xfrm>
          <a:prstGeom prst="rect">
            <a:avLst/>
          </a:prstGeom>
          <a:solidFill>
            <a:srgbClr val="0A1E35"/>
          </a:solidFill>
          <a:ln w="5080">
            <a:solidFill>
              <a:srgbClr val="A0A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1792" y="6419088"/>
            <a:ext cx="11064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EC0"/>
                </a:solidFill>
                <a:latin typeface="Barlow Condensed"/>
              </a:rPr>
              <a:t>EQUIPO MULTIDISCIPLINARIO:  Nutrióloga especializada  ·  Fisioterapeuta deportivo  ·  Membresía gym y acondicionamiento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F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0352" y="662940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0AEC0"/>
                </a:solidFill>
                <a:latin typeface="Barlow Condensed"/>
              </a:rPr>
              <a:t>GERARDO BENÍTEZ · CAMPAÑA OLÍMPICA LA28 · #RoadToLA28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75720" y="662940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A0AEC0"/>
                </a:solidFill>
                <a:latin typeface="Barlow Condensed"/>
              </a:rP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82880"/>
            <a:ext cx="5486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 spc="350">
                <a:solidFill>
                  <a:srgbClr val="C9A84C"/>
                </a:solidFill>
                <a:latin typeface="Barlow Condensed"/>
              </a:rPr>
              <a:t>─  INVERSIÓN REQUERIDA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57200"/>
            <a:ext cx="112928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400">
                <a:solidFill>
                  <a:srgbClr val="F0F4F8"/>
                </a:solidFill>
                <a:latin typeface="Bebas Neue"/>
              </a:rPr>
              <a:t>$2.2M MXN</a:t>
            </a:r>
          </a:p>
          <a:p>
            <a:r>
              <a:rPr sz="3000">
                <a:solidFill>
                  <a:srgbClr val="A0AEC0"/>
                </a:solidFill>
                <a:latin typeface="Bebas Neue"/>
              </a:rPr>
              <a:t>Inversión enfocada · 2026–2027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554480"/>
            <a:ext cx="11292840" cy="137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0352" y="1664208"/>
            <a:ext cx="1417320" cy="868680"/>
          </a:xfrm>
          <a:prstGeom prst="rect">
            <a:avLst/>
          </a:prstGeom>
          <a:solidFill>
            <a:srgbClr val="0F2A47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11978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D4FF"/>
                </a:solidFill>
                <a:latin typeface="Bebas Neue"/>
              </a:rPr>
              <a:t>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21408"/>
            <a:ext cx="11978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0AEC0"/>
                </a:solidFill>
                <a:latin typeface="Barlow Condensed"/>
              </a:rPr>
              <a:t>Entrenamiento</a:t>
            </a:r>
          </a:p>
        </p:txBody>
      </p:sp>
      <p:sp>
        <p:nvSpPr>
          <p:cNvPr id="9" name="Rectangle 8"/>
          <p:cNvSpPr/>
          <p:nvPr/>
        </p:nvSpPr>
        <p:spPr>
          <a:xfrm>
            <a:off x="2075688" y="1975104"/>
            <a:ext cx="7132320" cy="246888"/>
          </a:xfrm>
          <a:prstGeom prst="rect">
            <a:avLst/>
          </a:prstGeom>
          <a:solidFill>
            <a:srgbClr val="0F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75688" y="1975104"/>
            <a:ext cx="5705856" cy="24688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75688" y="1700784"/>
            <a:ext cx="7132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EC0"/>
                </a:solidFill>
                <a:latin typeface="Barlow Condensed"/>
              </a:rPr>
              <a:t>Equipo técnico · Embarcación · 3 Bloques entrenamiento (sep–dic) · Regatas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17736" y="1719072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00D4FF"/>
                </a:solidFill>
                <a:latin typeface="Bebas Neue"/>
              </a:rPr>
              <a:t>$0.98M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17736" y="2176272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AEC0"/>
                </a:solidFill>
                <a:latin typeface="Barlow Condensed"/>
              </a:rPr>
              <a:t>USD $53,000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" y="2651760"/>
            <a:ext cx="1417320" cy="868680"/>
          </a:xfrm>
          <a:prstGeom prst="rect">
            <a:avLst/>
          </a:prstGeom>
          <a:solidFill>
            <a:srgbClr val="0F2A47"/>
          </a:solidFill>
          <a:ln w="10160">
            <a:solidFill>
              <a:srgbClr val="B47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724912"/>
            <a:ext cx="11978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B47FFF"/>
                </a:solidFill>
                <a:latin typeface="Bebas Neue"/>
              </a:rPr>
              <a:t>2027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108960"/>
            <a:ext cx="11978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0AEC0"/>
                </a:solidFill>
                <a:latin typeface="Barlow Condensed"/>
              </a:rPr>
              <a:t>Preolímpico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75688" y="2962656"/>
            <a:ext cx="7132320" cy="246888"/>
          </a:xfrm>
          <a:prstGeom prst="rect">
            <a:avLst/>
          </a:prstGeom>
          <a:solidFill>
            <a:srgbClr val="0F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075688" y="2962656"/>
            <a:ext cx="7132320" cy="246888"/>
          </a:xfrm>
          <a:prstGeom prst="rect">
            <a:avLst/>
          </a:prstGeom>
          <a:solidFill>
            <a:srgbClr val="B4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75688" y="2688336"/>
            <a:ext cx="7132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EC0"/>
                </a:solidFill>
                <a:latin typeface="Barlow Condensed"/>
              </a:rPr>
              <a:t>4 Grand Slams · Mundial Fortaleza ★★★★ · Equipo técnico 12 meses · Logística y equipamiento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17736" y="2706624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B47FFF"/>
                </a:solidFill>
                <a:latin typeface="Bebas Neue"/>
              </a:rPr>
              <a:t>$1.22M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17736" y="3163824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AEC0"/>
                </a:solidFill>
                <a:latin typeface="Barlow Condensed"/>
              </a:rPr>
              <a:t>USD $66,000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0352" y="3611880"/>
            <a:ext cx="11292840" cy="347472"/>
          </a:xfrm>
          <a:prstGeom prst="rect">
            <a:avLst/>
          </a:prstGeom>
          <a:solidFill>
            <a:srgbClr val="0A2018"/>
          </a:solidFill>
          <a:ln w="9525">
            <a:solidFill>
              <a:srgbClr val="00E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365760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E5A0"/>
                </a:solidFill>
                <a:latin typeface="Barlow Condensed"/>
              </a:rPr>
              <a:t>✅  FINANCIADO POR COM — Juegos Centroamericanos 2026 + Juegos Panamericanos 2027 cubiertos íntegramente por el Comité Olímpico Mexicano. No incluidos en este presupuesto.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0352" y="4041648"/>
            <a:ext cx="11292840" cy="1261872"/>
          </a:xfrm>
          <a:prstGeom prst="rect">
            <a:avLst/>
          </a:prstGeom>
          <a:solidFill>
            <a:srgbClr val="1A1600"/>
          </a:solidFill>
          <a:ln w="254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30352" y="4041648"/>
            <a:ext cx="11292840" cy="6400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4133087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0AEC0"/>
                </a:solidFill>
                <a:latin typeface="Barlow Condensed"/>
              </a:rPr>
              <a:t>INVERSIÓN TOTAL 2026–2027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4462272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0" i="0">
                <a:solidFill>
                  <a:srgbClr val="C9A84C"/>
                </a:solidFill>
                <a:latin typeface="Bebas Neue"/>
              </a:rPr>
              <a:t>$2.2M MXN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5047488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AEC0"/>
                </a:solidFill>
                <a:latin typeface="Barlow Condensed"/>
              </a:rPr>
              <a:t>USD $119,000  ·  entrenamientos, Grand Slams y Mundial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80960" y="4462272"/>
            <a:ext cx="3566160" cy="9144"/>
          </a:xfrm>
          <a:prstGeom prst="rect">
            <a:avLst/>
          </a:prstGeom>
          <a:solidFill>
            <a:srgbClr val="3D2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80960" y="4133087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A0AEC0"/>
                </a:solidFill>
                <a:latin typeface="Barlow Condensed"/>
              </a:rPr>
              <a:t>EQUIVALENTE POR AÑO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4407408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600" b="0" i="0">
                <a:solidFill>
                  <a:srgbClr val="E8C96A"/>
                </a:solidFill>
                <a:latin typeface="Bebas Neue"/>
              </a:rPr>
              <a:t>$1.10M MXN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4919472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1">
                <a:solidFill>
                  <a:srgbClr val="A0AEC0"/>
                </a:solidFill>
                <a:latin typeface="Barlow Condensed"/>
              </a:rPr>
              <a:t>USD $59,500 / año · cada peso al rendimiento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0352" y="5394960"/>
            <a:ext cx="2715768" cy="1115568"/>
          </a:xfrm>
          <a:prstGeom prst="rect">
            <a:avLst/>
          </a:prstGeom>
          <a:solidFill>
            <a:srgbClr val="0F2A47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30352" y="5394960"/>
            <a:ext cx="2715768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486400"/>
            <a:ext cx="2496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0F4F8"/>
                </a:solidFill>
                <a:latin typeface="Barlow Condensed"/>
              </a:rPr>
              <a:t>Viajes y Alojamiento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833872"/>
            <a:ext cx="24963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FF"/>
                </a:solidFill>
                <a:latin typeface="Barlow Condensed"/>
              </a:rPr>
              <a:t>2026:  $335,000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035040"/>
            <a:ext cx="24963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D4FF"/>
                </a:solidFill>
                <a:latin typeface="Barlow Condensed"/>
              </a:rPr>
              <a:t>2027:  $490,000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254496"/>
            <a:ext cx="24963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0F4F8"/>
                </a:solidFill>
                <a:latin typeface="Barlow Condensed"/>
              </a:rPr>
              <a:t>TOTAL: $825,000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328416" y="5394960"/>
            <a:ext cx="2715768" cy="1115568"/>
          </a:xfrm>
          <a:prstGeom prst="rect">
            <a:avLst/>
          </a:prstGeom>
          <a:solidFill>
            <a:srgbClr val="0F2A47"/>
          </a:solidFill>
          <a:ln w="63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328416" y="5394960"/>
            <a:ext cx="2715768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38144" y="5486400"/>
            <a:ext cx="2496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0F4F8"/>
                </a:solidFill>
                <a:latin typeface="Barlow Condensed"/>
              </a:rPr>
              <a:t>Equipo y Material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38144" y="5833872"/>
            <a:ext cx="24963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Barlow Condensed"/>
              </a:rPr>
              <a:t>2026:  $235,000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38144" y="6035040"/>
            <a:ext cx="24963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A84C"/>
                </a:solidFill>
                <a:latin typeface="Barlow Condensed"/>
              </a:rPr>
              <a:t>2027:  $270,000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38144" y="6254496"/>
            <a:ext cx="24963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0F4F8"/>
                </a:solidFill>
                <a:latin typeface="Barlow Condensed"/>
              </a:rPr>
              <a:t>TOTAL: $505,000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26480" y="5394960"/>
            <a:ext cx="2715768" cy="1115568"/>
          </a:xfrm>
          <a:prstGeom prst="rect">
            <a:avLst/>
          </a:prstGeom>
          <a:solidFill>
            <a:srgbClr val="0F2A47"/>
          </a:solidFill>
          <a:ln w="6350">
            <a:solidFill>
              <a:srgbClr val="00E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126480" y="5394960"/>
            <a:ext cx="2715768" cy="45720"/>
          </a:xfrm>
          <a:prstGeom prst="rect">
            <a:avLst/>
          </a:prstGeom>
          <a:solidFill>
            <a:srgbClr val="00E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36208" y="5486400"/>
            <a:ext cx="2496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0F4F8"/>
                </a:solidFill>
                <a:latin typeface="Barlow Condensed"/>
              </a:rPr>
              <a:t>Entrenamiento y Coaching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36208" y="5833872"/>
            <a:ext cx="24963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E5A0"/>
                </a:solidFill>
                <a:latin typeface="Barlow Condensed"/>
              </a:rPr>
              <a:t>2026:  $260,000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36208" y="6035040"/>
            <a:ext cx="24963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E5A0"/>
                </a:solidFill>
                <a:latin typeface="Barlow Condensed"/>
              </a:rPr>
              <a:t>2027:  $300,000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36208" y="6254496"/>
            <a:ext cx="24963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0F4F8"/>
                </a:solidFill>
                <a:latin typeface="Barlow Condensed"/>
              </a:rPr>
              <a:t>TOTAL: $560,000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924544" y="5394960"/>
            <a:ext cx="2715768" cy="1115568"/>
          </a:xfrm>
          <a:prstGeom prst="rect">
            <a:avLst/>
          </a:prstGeom>
          <a:solidFill>
            <a:srgbClr val="0F2A47"/>
          </a:solidFill>
          <a:ln w="6350">
            <a:solidFill>
              <a:srgbClr val="B47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924544" y="5394960"/>
            <a:ext cx="2715768" cy="45720"/>
          </a:xfrm>
          <a:prstGeom prst="rect">
            <a:avLst/>
          </a:prstGeom>
          <a:solidFill>
            <a:srgbClr val="B4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34272" y="5486400"/>
            <a:ext cx="2496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0F4F8"/>
                </a:solidFill>
                <a:latin typeface="Barlow Condensed"/>
              </a:rPr>
              <a:t>Físico y Médico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34272" y="5833872"/>
            <a:ext cx="24963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47FFF"/>
                </a:solidFill>
                <a:latin typeface="Barlow Condensed"/>
              </a:rPr>
              <a:t>2026:  $150,000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034272" y="6035040"/>
            <a:ext cx="24963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47FFF"/>
                </a:solidFill>
                <a:latin typeface="Barlow Condensed"/>
              </a:rPr>
              <a:t>2027:  $160,000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34272" y="6254496"/>
            <a:ext cx="24963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0F4F8"/>
                </a:solidFill>
                <a:latin typeface="Barlow Condensed"/>
              </a:rPr>
              <a:t>TOTAL: $310,000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F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30352" y="662940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0AEC0"/>
                </a:solidFill>
                <a:latin typeface="Barlow Condensed"/>
              </a:rPr>
              <a:t>GERARDO BENÍTEZ · CAMPAÑA OLÍMPICA LA28 · #RoadToLA28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475720" y="662940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A0AEC0"/>
                </a:solidFill>
                <a:latin typeface="Barlow Condensed"/>
              </a:rP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82880"/>
            <a:ext cx="5486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 spc="350">
                <a:solidFill>
                  <a:srgbClr val="C9A84C"/>
                </a:solidFill>
                <a:latin typeface="Barlow Condensed"/>
              </a:rPr>
              <a:t>─  PAQUETES DE PATROCINIO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57200"/>
            <a:ext cx="112928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00">
                <a:solidFill>
                  <a:srgbClr val="F0F4F8"/>
                </a:solidFill>
                <a:latin typeface="Bebas Neue"/>
              </a:rPr>
              <a:t>Tu marca en el</a:t>
            </a:r>
          </a:p>
          <a:p>
            <a:r>
              <a:rPr sz="4800">
                <a:solidFill>
                  <a:srgbClr val="C9A84C"/>
                </a:solidFill>
                <a:latin typeface="Bebas Neue"/>
              </a:rPr>
              <a:t>camino a Los Ángeles 2028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572768"/>
            <a:ext cx="11292840" cy="137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645920"/>
            <a:ext cx="11292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0AEC0"/>
                </a:solidFill>
                <a:latin typeface="Barlow Condensed"/>
              </a:rPr>
              <a:t>Una campaña olímpica completa = costo de una activación premium de TV.  Diferencia: 365 días · 3 años · 6 países · escenario olímpico.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2011679"/>
            <a:ext cx="2715768" cy="4572000"/>
          </a:xfrm>
          <a:prstGeom prst="rect">
            <a:avLst/>
          </a:prstGeom>
          <a:solidFill>
            <a:srgbClr val="201800"/>
          </a:solidFill>
          <a:ln w="254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2011679"/>
            <a:ext cx="2715768" cy="6400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14500" y="210312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0F4F8"/>
                </a:solidFill>
                <a:latin typeface="Calibri"/>
              </a:rPr>
              <a:t>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05456"/>
            <a:ext cx="2496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C9A84C"/>
                </a:solidFill>
                <a:latin typeface="Bebas Neue"/>
              </a:rPr>
              <a:t>ORO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871215"/>
            <a:ext cx="2532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0F4F8"/>
                </a:solidFill>
                <a:latin typeface="Barlow Condensed"/>
              </a:rPr>
              <a:t>$800K – 1.2M / año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" y="3218687"/>
            <a:ext cx="2441448" cy="914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310127"/>
            <a:ext cx="2496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0F4F8"/>
                </a:solidFill>
                <a:latin typeface="Barlow Condensed"/>
              </a:rPr>
              <a:t>• Logo en la VELA (visible en TV)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602735"/>
            <a:ext cx="2496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0F4F8"/>
                </a:solidFill>
                <a:latin typeface="Barlow Condensed"/>
              </a:rPr>
              <a:t>• Logo en ropa y casco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895344"/>
            <a:ext cx="2496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0F4F8"/>
                </a:solidFill>
                <a:latin typeface="Barlow Condensed"/>
              </a:rPr>
              <a:t>• Naming rights en redes sociales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187952"/>
            <a:ext cx="2496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0F4F8"/>
                </a:solidFill>
                <a:latin typeface="Barlow Condensed"/>
              </a:rPr>
              <a:t>• Derecho de imagen del atleta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480559"/>
            <a:ext cx="2496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0F4F8"/>
                </a:solidFill>
                <a:latin typeface="Barlow Condensed"/>
              </a:rPr>
              <a:t>• Acceso VIP a competencias int.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773168"/>
            <a:ext cx="2496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0F4F8"/>
                </a:solidFill>
                <a:latin typeface="Barlow Condensed"/>
              </a:rPr>
              <a:t>• Contenido dedicado mensual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065775"/>
            <a:ext cx="2496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0F4F8"/>
                </a:solidFill>
                <a:latin typeface="Barlow Condensed"/>
              </a:rPr>
              <a:t>• Reuniones trimestrales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358383"/>
            <a:ext cx="2496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0F4F8"/>
                </a:solidFill>
                <a:latin typeface="Barlow Condensed"/>
              </a:rPr>
              <a:t>• Todos los materiales de prensa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37560" y="2084831"/>
            <a:ext cx="2715768" cy="4434840"/>
          </a:xfrm>
          <a:prstGeom prst="rect">
            <a:avLst/>
          </a:prstGeom>
          <a:solidFill>
            <a:srgbClr val="0F2A47"/>
          </a:solidFill>
          <a:ln w="10160">
            <a:solidFill>
              <a:srgbClr val="A0A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337560" y="2084831"/>
            <a:ext cx="2715768" cy="64008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21708" y="217627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0F4F8"/>
                </a:solidFill>
                <a:latin typeface="Calibri"/>
              </a:rPr>
              <a:t>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47288" y="2578608"/>
            <a:ext cx="2496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A0AEC0"/>
                </a:solidFill>
                <a:latin typeface="Bebas Neue"/>
              </a:rPr>
              <a:t>PLATA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9000" y="2944368"/>
            <a:ext cx="2532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0F4F8"/>
                </a:solidFill>
                <a:latin typeface="Barlow Condensed"/>
              </a:rPr>
              <a:t>$400K – 600K / año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74720" y="3291839"/>
            <a:ext cx="2441448" cy="9144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47288" y="3383279"/>
            <a:ext cx="2496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AEC0"/>
                </a:solidFill>
                <a:latin typeface="Barlow Condensed"/>
              </a:rPr>
              <a:t>• Logo en ropa de competencia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47288" y="3675887"/>
            <a:ext cx="2496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AEC0"/>
                </a:solidFill>
                <a:latin typeface="Barlow Condensed"/>
              </a:rPr>
              <a:t>• Mención en todas las RRSS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47288" y="3968496"/>
            <a:ext cx="2496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AEC0"/>
                </a:solidFill>
                <a:latin typeface="Barlow Condensed"/>
              </a:rPr>
              <a:t>• Presencia en entrevistas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47288" y="4261104"/>
            <a:ext cx="2496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AEC0"/>
                </a:solidFill>
                <a:latin typeface="Barlow Condensed"/>
              </a:rPr>
              <a:t>• Contenido mensual co-branded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47288" y="4553712"/>
            <a:ext cx="2496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AEC0"/>
                </a:solidFill>
                <a:latin typeface="Barlow Condensed"/>
              </a:rPr>
              <a:t>• Invitación a clasificatorios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47288" y="4846320"/>
            <a:ext cx="2496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AEC0"/>
                </a:solidFill>
                <a:latin typeface="Barlow Condensed"/>
              </a:rPr>
              <a:t>• Reporte trimestral de impresiones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44768" y="2084831"/>
            <a:ext cx="2715768" cy="4434840"/>
          </a:xfrm>
          <a:prstGeom prst="rect">
            <a:avLst/>
          </a:prstGeom>
          <a:solidFill>
            <a:srgbClr val="0F2A47"/>
          </a:solidFill>
          <a:ln w="10160">
            <a:solidFill>
              <a:srgbClr val="CD7F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44768" y="2084831"/>
            <a:ext cx="2715768" cy="64008"/>
          </a:xfrm>
          <a:prstGeom prst="rect">
            <a:avLst/>
          </a:prstGeom>
          <a:solidFill>
            <a:srgbClr val="CD7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28916" y="217627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0F4F8"/>
                </a:solidFill>
                <a:latin typeface="Calibri"/>
              </a:rPr>
              <a:t>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54496" y="2578608"/>
            <a:ext cx="2496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CD7F32"/>
                </a:solidFill>
                <a:latin typeface="Bebas Neue"/>
              </a:rPr>
              <a:t>BRONCE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36208" y="2944368"/>
            <a:ext cx="2532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0F4F8"/>
                </a:solidFill>
                <a:latin typeface="Barlow Condensed"/>
              </a:rPr>
              <a:t>$150K – 300K / año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81928" y="3291839"/>
            <a:ext cx="2441448" cy="9144"/>
          </a:xfrm>
          <a:prstGeom prst="rect">
            <a:avLst/>
          </a:prstGeom>
          <a:solidFill>
            <a:srgbClr val="CD7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54496" y="3383279"/>
            <a:ext cx="2496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AEC0"/>
                </a:solidFill>
                <a:latin typeface="Barlow Condensed"/>
              </a:rPr>
              <a:t>• Logo en materiales digitales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54496" y="3675887"/>
            <a:ext cx="2496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AEC0"/>
                </a:solidFill>
                <a:latin typeface="Barlow Condensed"/>
              </a:rPr>
              <a:t>• Mención en redes sociales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54496" y="3968496"/>
            <a:ext cx="2496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AEC0"/>
                </a:solidFill>
                <a:latin typeface="Barlow Condensed"/>
              </a:rPr>
              <a:t>• 1 contenido / trimestre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54496" y="4261104"/>
            <a:ext cx="2496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AEC0"/>
                </a:solidFill>
                <a:latin typeface="Barlow Condensed"/>
              </a:rPr>
              <a:t>• Presencia en sitio web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54496" y="4553712"/>
            <a:ext cx="2496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AEC0"/>
                </a:solidFill>
                <a:latin typeface="Barlow Condensed"/>
              </a:rPr>
              <a:t>• Certificado patrocinador olímpico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951976" y="2084831"/>
            <a:ext cx="2715768" cy="4434840"/>
          </a:xfrm>
          <a:prstGeom prst="rect">
            <a:avLst/>
          </a:prstGeom>
          <a:solidFill>
            <a:srgbClr val="0F2A47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951976" y="2084831"/>
            <a:ext cx="2715768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136124" y="217627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0F4F8"/>
                </a:solidFill>
                <a:latin typeface="Calibri"/>
              </a:rPr>
              <a:t>🤝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61704" y="2578608"/>
            <a:ext cx="2496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0D4FF"/>
                </a:solidFill>
                <a:latin typeface="Bebas Neue"/>
              </a:rPr>
              <a:t>ALIADO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43416" y="2944368"/>
            <a:ext cx="2532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0F4F8"/>
                </a:solidFill>
                <a:latin typeface="Barlow Condensed"/>
              </a:rPr>
              <a:t>$50K – 100K / año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089136" y="3291839"/>
            <a:ext cx="2441448" cy="914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061704" y="3383279"/>
            <a:ext cx="2496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AEC0"/>
                </a:solidFill>
                <a:latin typeface="Barlow Condensed"/>
              </a:rPr>
              <a:t>• Logo en materiales digitales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61704" y="3675887"/>
            <a:ext cx="2496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AEC0"/>
                </a:solidFill>
                <a:latin typeface="Barlow Condensed"/>
              </a:rPr>
              <a:t>• Mención mensual en RRSS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61704" y="3968496"/>
            <a:ext cx="2496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AEC0"/>
                </a:solidFill>
                <a:latin typeface="Barlow Condensed"/>
              </a:rPr>
              <a:t>• Apoyo en especie bienvenido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61704" y="4261104"/>
            <a:ext cx="2496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AEC0"/>
                </a:solidFill>
                <a:latin typeface="Barlow Condensed"/>
              </a:rPr>
              <a:t>• Comunidad de patrocinadores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0352" y="6455664"/>
            <a:ext cx="11292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E8C96A"/>
                </a:solidFill>
                <a:latin typeface="Barlow Condensed"/>
              </a:rPr>
              <a:t>💡  "El ILCA 7 es el barco olímpico más visto del mundo. Tu marca viaja a España, Francia, Alemania, Brasil, Perú y Los Ángeles 2028."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F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30352" y="662940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0AEC0"/>
                </a:solidFill>
                <a:latin typeface="Barlow Condensed"/>
              </a:rPr>
              <a:t>GERARDO BENÍTEZ · CAMPAÑA OLÍMPICA LA28 · #RoadToLA28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475720" y="662940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A0AEC0"/>
                </a:solidFill>
                <a:latin typeface="Barlow Condensed"/>
              </a:rPr>
              <a:t>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82880"/>
            <a:ext cx="5486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 spc="350">
                <a:solidFill>
                  <a:srgbClr val="C9A84C"/>
                </a:solidFill>
                <a:latin typeface="Barlow Condensed"/>
              </a:rPr>
              <a:t>─  PLAN DE REDES SOCIALES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57200"/>
            <a:ext cx="112928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600">
                <a:solidFill>
                  <a:srgbClr val="F0F4F8"/>
                </a:solidFill>
                <a:latin typeface="Bebas Neue"/>
              </a:rPr>
              <a:t>Tu marca en cada publicación,</a:t>
            </a:r>
          </a:p>
          <a:p>
            <a:r>
              <a:rPr sz="4600">
                <a:solidFill>
                  <a:srgbClr val="00D4FF"/>
                </a:solidFill>
                <a:latin typeface="Bebas Neue"/>
              </a:rPr>
              <a:t>regata y logro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572768"/>
            <a:ext cx="11292840" cy="137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645920"/>
            <a:ext cx="11292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0AEC0"/>
                </a:solidFill>
                <a:latin typeface="Barlow Condensed"/>
              </a:rPr>
              <a:t>"Tu marca en cada entrenamiento, regata y momento clave — de Valle de Bravo a Long Beach. Contenido orgánico, no publicitario."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2048256"/>
            <a:ext cx="3639312" cy="4160520"/>
          </a:xfrm>
          <a:prstGeom prst="rect">
            <a:avLst/>
          </a:prstGeom>
          <a:solidFill>
            <a:srgbClr val="0F2A47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2048256"/>
            <a:ext cx="3639312" cy="6400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2139696"/>
            <a:ext cx="3364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C9A84C"/>
                </a:solidFill>
                <a:latin typeface="Bebas Neue"/>
              </a:rPr>
              <a:t>📸 INSTAGRAM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505456"/>
            <a:ext cx="3364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4F8"/>
                </a:solidFill>
                <a:latin typeface="Barlow Condensed"/>
              </a:rPr>
              <a:t>@gerardo.benitezr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743200"/>
            <a:ext cx="3364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0AEC0"/>
                </a:solidFill>
                <a:latin typeface="Barlow Condensed"/>
              </a:rPr>
              <a:t>Plataforma visual principal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" y="2980944"/>
            <a:ext cx="3364992" cy="914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3054096"/>
            <a:ext cx="33649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0F4F8"/>
                </a:solidFill>
                <a:latin typeface="Barlow Condensed"/>
              </a:rPr>
              <a:t>→  Reels de regatas y entrenamiento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3419856"/>
            <a:ext cx="33649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0F4F8"/>
                </a:solidFill>
                <a:latin typeface="Barlow Condensed"/>
              </a:rPr>
              <a:t>→  Stories en tiempo real en eventos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" y="3785615"/>
            <a:ext cx="33649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0F4F8"/>
                </a:solidFill>
                <a:latin typeface="Barlow Condensed"/>
              </a:rPr>
              <a:t>→  Behind the scenes de la campaña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" y="4151376"/>
            <a:ext cx="33649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0F4F8"/>
                </a:solidFill>
                <a:latin typeface="Barlow Condensed"/>
              </a:rPr>
              <a:t>→  Mención de patrocinadores en posts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25112" y="2048256"/>
            <a:ext cx="3639312" cy="4160520"/>
          </a:xfrm>
          <a:prstGeom prst="rect">
            <a:avLst/>
          </a:prstGeom>
          <a:solidFill>
            <a:srgbClr val="0F2A47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25112" y="2048256"/>
            <a:ext cx="3639312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62272" y="2139696"/>
            <a:ext cx="3364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00D4FF"/>
                </a:solidFill>
                <a:latin typeface="Bebas Neue"/>
              </a:rPr>
              <a:t>👤 FACEBOOK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62272" y="2505456"/>
            <a:ext cx="3364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4F8"/>
                </a:solidFill>
                <a:latin typeface="Barlow Condensed"/>
              </a:rPr>
              <a:t>Gerardo Benitez Sailing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62272" y="2743200"/>
            <a:ext cx="3364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0AEC0"/>
                </a:solidFill>
                <a:latin typeface="Barlow Condensed"/>
              </a:rPr>
              <a:t>Comunidad y transmisiones en vivo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62272" y="2980944"/>
            <a:ext cx="3364992" cy="914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62272" y="3054096"/>
            <a:ext cx="33649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0F4F8"/>
                </a:solidFill>
                <a:latin typeface="Barlow Condensed"/>
              </a:rPr>
              <a:t>→  Facebook Live de regatas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62272" y="3419856"/>
            <a:ext cx="33649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0F4F8"/>
                </a:solidFill>
                <a:latin typeface="Barlow Condensed"/>
              </a:rPr>
              <a:t>→  Álbumes de eventos internacionales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62272" y="3785615"/>
            <a:ext cx="33649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0F4F8"/>
                </a:solidFill>
                <a:latin typeface="Barlow Condensed"/>
              </a:rPr>
              <a:t>→  Actualizaciones campaña olímpica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62272" y="4151376"/>
            <a:ext cx="33649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0F4F8"/>
                </a:solidFill>
                <a:latin typeface="Barlow Condensed"/>
              </a:rPr>
              <a:t>→  Alcance audiencia adulta / corporativa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19872" y="2048256"/>
            <a:ext cx="3639312" cy="4160520"/>
          </a:xfrm>
          <a:prstGeom prst="rect">
            <a:avLst/>
          </a:prstGeom>
          <a:solidFill>
            <a:srgbClr val="0F2A47"/>
          </a:solidFill>
          <a:ln w="12700">
            <a:solidFill>
              <a:srgbClr val="B47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19872" y="2048256"/>
            <a:ext cx="3639312" cy="64008"/>
          </a:xfrm>
          <a:prstGeom prst="rect">
            <a:avLst/>
          </a:prstGeom>
          <a:solidFill>
            <a:srgbClr val="B4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57032" y="2139696"/>
            <a:ext cx="3364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B47FFF"/>
                </a:solidFill>
                <a:latin typeface="Bebas Neue"/>
              </a:rPr>
              <a:t>💼 LINKEDIN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57032" y="2505456"/>
            <a:ext cx="3364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4F8"/>
                </a:solidFill>
                <a:latin typeface="Barlow Condensed"/>
              </a:rPr>
              <a:t>Gerardo Benítez Rodríguez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57032" y="2743200"/>
            <a:ext cx="3364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0AEC0"/>
                </a:solidFill>
                <a:latin typeface="Barlow Condensed"/>
              </a:rPr>
              <a:t>Canal B2B · Patrocinadores corporativos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57032" y="2980944"/>
            <a:ext cx="3364992" cy="9144"/>
          </a:xfrm>
          <a:prstGeom prst="rect">
            <a:avLst/>
          </a:prstGeom>
          <a:solidFill>
            <a:srgbClr val="B4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57032" y="3054096"/>
            <a:ext cx="33649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0F4F8"/>
                </a:solidFill>
                <a:latin typeface="Barlow Condensed"/>
              </a:rPr>
              <a:t>→  Logros y rankings internacionales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57032" y="3419856"/>
            <a:ext cx="33649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0F4F8"/>
                </a:solidFill>
                <a:latin typeface="Barlow Condensed"/>
              </a:rPr>
              <a:t>→  ROI de patrocinio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57032" y="3785615"/>
            <a:ext cx="33649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0F4F8"/>
                </a:solidFill>
                <a:latin typeface="Barlow Condensed"/>
              </a:rPr>
              <a:t>→  Reportes de impacto trimestral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57032" y="4151376"/>
            <a:ext cx="33649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0F4F8"/>
                </a:solidFill>
                <a:latin typeface="Barlow Condensed"/>
              </a:rPr>
              <a:t>→  Asociación olímpica de alto perfil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30352" y="6291072"/>
            <a:ext cx="2798064" cy="438912"/>
          </a:xfrm>
          <a:prstGeom prst="rect">
            <a:avLst/>
          </a:prstGeom>
          <a:solidFill>
            <a:srgbClr val="0A1E35"/>
          </a:solidFill>
          <a:ln w="9525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6309360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C9A84C"/>
                </a:solidFill>
                <a:latin typeface="Bebas Neue"/>
              </a:rPr>
              <a:t>10–12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792224" y="6345936"/>
            <a:ext cx="14264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AEC0"/>
                </a:solidFill>
                <a:latin typeface="Barlow Condensed"/>
              </a:rPr>
              <a:t>eventos int./año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10712" y="6291072"/>
            <a:ext cx="2798064" cy="438912"/>
          </a:xfrm>
          <a:prstGeom prst="rect">
            <a:avLst/>
          </a:prstGeom>
          <a:solidFill>
            <a:srgbClr val="0A1E35"/>
          </a:solidFill>
          <a:ln w="952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520440" y="6309360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D4FF"/>
                </a:solidFill>
                <a:latin typeface="Bebas Neue"/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72583" y="6345936"/>
            <a:ext cx="14264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AEC0"/>
                </a:solidFill>
                <a:latin typeface="Barlow Condensed"/>
              </a:rPr>
              <a:t>países del circuito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91072" y="6291072"/>
            <a:ext cx="2798064" cy="438912"/>
          </a:xfrm>
          <a:prstGeom prst="rect">
            <a:avLst/>
          </a:prstGeom>
          <a:solidFill>
            <a:srgbClr val="0A1E35"/>
          </a:solidFill>
          <a:ln w="9525">
            <a:solidFill>
              <a:srgbClr val="00E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0" y="6309360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E5A0"/>
                </a:solidFill>
                <a:latin typeface="Bebas Neue"/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52944" y="6345936"/>
            <a:ext cx="14264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AEC0"/>
                </a:solidFill>
                <a:latin typeface="Barlow Condensed"/>
              </a:rPr>
              <a:t>plataformas digitales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71432" y="6291072"/>
            <a:ext cx="2798064" cy="438912"/>
          </a:xfrm>
          <a:prstGeom prst="rect">
            <a:avLst/>
          </a:prstGeom>
          <a:solidFill>
            <a:srgbClr val="0A1E35"/>
          </a:solidFill>
          <a:ln w="9525">
            <a:solidFill>
              <a:srgbClr val="B47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81159" y="6309360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B47FFF"/>
                </a:solidFill>
                <a:latin typeface="Bebas Neue"/>
              </a:rPr>
              <a:t>3 AÑOS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433304" y="6345936"/>
            <a:ext cx="14264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AEC0"/>
                </a:solidFill>
                <a:latin typeface="Barlow Condensed"/>
              </a:rPr>
              <a:t>narrativa olímpica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F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0352" y="662940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0AEC0"/>
                </a:solidFill>
                <a:latin typeface="Barlow Condensed"/>
              </a:rPr>
              <a:t>GERARDO BENÍTEZ · CAMPAÑA OLÍMPICA LA28 · #RoadToLA28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475720" y="662940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A0AEC0"/>
                </a:solidFill>
                <a:latin typeface="Barlow Condensed"/>
              </a:rP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82880"/>
            <a:ext cx="5486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 spc="350">
                <a:solidFill>
                  <a:srgbClr val="C9A84C"/>
                </a:solidFill>
                <a:latin typeface="Barlow Condensed"/>
              </a:rPr>
              <a:t>─  POR QUÉ CREER EN ESTE PROYECTO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57200"/>
            <a:ext cx="112928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200">
                <a:solidFill>
                  <a:srgbClr val="F0F4F8"/>
                </a:solidFill>
                <a:latin typeface="Bebas Neue"/>
              </a:rPr>
              <a:t>No es un sueño.</a:t>
            </a:r>
          </a:p>
          <a:p>
            <a:r>
              <a:rPr sz="6200">
                <a:solidFill>
                  <a:srgbClr val="C9A84C"/>
                </a:solidFill>
                <a:latin typeface="Bebas Neue"/>
              </a:rPr>
              <a:t>Es un plan.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572768"/>
            <a:ext cx="11292840" cy="137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0352" y="1737360"/>
            <a:ext cx="5440680" cy="1261872"/>
          </a:xfrm>
          <a:prstGeom prst="rect">
            <a:avLst/>
          </a:prstGeom>
          <a:solidFill>
            <a:srgbClr val="0F2A47"/>
          </a:solidFill>
          <a:ln w="10160">
            <a:solidFill>
              <a:srgbClr val="00E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0352" y="1737360"/>
            <a:ext cx="91440" cy="1261872"/>
          </a:xfrm>
          <a:prstGeom prst="rect">
            <a:avLst/>
          </a:prstGeom>
          <a:solidFill>
            <a:srgbClr val="00E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19" y="182880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0F4F8"/>
                </a:solidFill>
                <a:latin typeface="Calibri"/>
              </a:rPr>
              <a:t>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82880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00E5A0"/>
                </a:solidFill>
                <a:latin typeface="Bebas Neue"/>
              </a:rPr>
              <a:t>PASO 1 ACTIVADO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304288"/>
            <a:ext cx="4480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AEC0"/>
                </a:solidFill>
                <a:latin typeface="Barlow Condensed"/>
              </a:rPr>
              <a:t>Ya clasificado Juegos Centroamericanos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1737360"/>
            <a:ext cx="5440680" cy="1261872"/>
          </a:xfrm>
          <a:prstGeom prst="rect">
            <a:avLst/>
          </a:prstGeom>
          <a:solidFill>
            <a:srgbClr val="0F2A47"/>
          </a:solidFill>
          <a:ln w="1016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6208" y="1737360"/>
            <a:ext cx="91440" cy="126187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37376" y="182880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0F4F8"/>
                </a:solidFill>
                <a:latin typeface="Calibri"/>
              </a:rPr>
              <a:t>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86016" y="182880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C9A84C"/>
                </a:solidFill>
                <a:latin typeface="Bebas Neue"/>
              </a:rPr>
              <a:t>8+ AÑOS #1 NACIONAL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86016" y="2304288"/>
            <a:ext cx="4480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AEC0"/>
                </a:solidFill>
                <a:latin typeface="Barlow Condensed"/>
              </a:rPr>
              <a:t>Campeón ILCA 7 México 2017–2025 · reinados consec.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3127248"/>
            <a:ext cx="5440680" cy="1261872"/>
          </a:xfrm>
          <a:prstGeom prst="rect">
            <a:avLst/>
          </a:prstGeom>
          <a:solidFill>
            <a:srgbClr val="0F2A47"/>
          </a:solidFill>
          <a:ln w="10160">
            <a:solidFill>
              <a:srgbClr val="E8C9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30352" y="3127248"/>
            <a:ext cx="91440" cy="1261872"/>
          </a:xfrm>
          <a:prstGeom prst="rect">
            <a:avLst/>
          </a:prstGeom>
          <a:solidFill>
            <a:srgbClr val="E8C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19" y="3218688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0F4F8"/>
                </a:solidFill>
                <a:latin typeface="Calibri"/>
              </a:rPr>
              <a:t>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218688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E8C96A"/>
                </a:solidFill>
                <a:latin typeface="Bebas Neue"/>
              </a:rPr>
              <a:t>100% MEDALLISTAS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694176"/>
            <a:ext cx="4480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AEC0"/>
                </a:solidFill>
                <a:latin typeface="Barlow Condensed"/>
              </a:rPr>
              <a:t>Todos los atletas del Coach Diego Romero: medallas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6208" y="3127248"/>
            <a:ext cx="5440680" cy="1261872"/>
          </a:xfrm>
          <a:prstGeom prst="rect">
            <a:avLst/>
          </a:prstGeom>
          <a:solidFill>
            <a:srgbClr val="0F2A47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6208" y="3127248"/>
            <a:ext cx="91440" cy="126187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37376" y="3218688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0F4F8"/>
                </a:solidFill>
                <a:latin typeface="Calibri"/>
              </a:rPr>
              <a:t>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016" y="3218688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00D4FF"/>
                </a:solidFill>
                <a:latin typeface="Bebas Neue"/>
              </a:rPr>
              <a:t>6 JUEGOS OLÍMPICOS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86016" y="3694176"/>
            <a:ext cx="4480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AEC0"/>
                </a:solidFill>
                <a:latin typeface="Barlow Condensed"/>
              </a:rPr>
              <a:t>Experiencia de la psicóloga Marcela Martínez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0352" y="4517136"/>
            <a:ext cx="5440680" cy="1261872"/>
          </a:xfrm>
          <a:prstGeom prst="rect">
            <a:avLst/>
          </a:prstGeom>
          <a:solidFill>
            <a:srgbClr val="0F2A47"/>
          </a:solidFill>
          <a:ln w="10160">
            <a:solidFill>
              <a:srgbClr val="B47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30352" y="4517136"/>
            <a:ext cx="91440" cy="1261872"/>
          </a:xfrm>
          <a:prstGeom prst="rect">
            <a:avLst/>
          </a:prstGeom>
          <a:solidFill>
            <a:srgbClr val="B4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19" y="4608575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0F4F8"/>
                </a:solidFill>
                <a:latin typeface="Calibri"/>
              </a:rPr>
              <a:t>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4608575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B47FFF"/>
                </a:solidFill>
                <a:latin typeface="Bebas Neue"/>
              </a:rPr>
              <a:t>2 METAS CLARAS 2027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5084064"/>
            <a:ext cx="4480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AEC0"/>
                </a:solidFill>
                <a:latin typeface="Barlow Condensed"/>
              </a:rPr>
              <a:t>Pase olímpico (Mundial) + Oro (Panamericanos)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36208" y="4517136"/>
            <a:ext cx="5440680" cy="1261872"/>
          </a:xfrm>
          <a:prstGeom prst="rect">
            <a:avLst/>
          </a:prstGeom>
          <a:solidFill>
            <a:srgbClr val="0F2A47"/>
          </a:solidFill>
          <a:ln w="10160">
            <a:solidFill>
              <a:srgbClr val="F0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36208" y="4517136"/>
            <a:ext cx="91440" cy="12618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37376" y="4608575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0F4F8"/>
                </a:solidFill>
                <a:latin typeface="Calibri"/>
              </a:rPr>
              <a:t>🇲🇽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86016" y="4608575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F0F4F8"/>
                </a:solidFill>
                <a:latin typeface="Bebas Neue"/>
              </a:rPr>
              <a:t>LA28 = OBJETIVO REAL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86016" y="5084064"/>
            <a:ext cx="4480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AEC0"/>
                </a:solidFill>
                <a:latin typeface="Barlow Condensed"/>
              </a:rPr>
              <a:t>México en Los Ángeles 2028 es alcanzable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30352" y="6035040"/>
            <a:ext cx="11292840" cy="402336"/>
          </a:xfrm>
          <a:prstGeom prst="rect">
            <a:avLst/>
          </a:prstGeom>
          <a:solidFill>
            <a:srgbClr val="0F220A"/>
          </a:solidFill>
          <a:ln w="9525">
            <a:solidFill>
              <a:srgbClr val="00E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6062472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00E5A0"/>
                </a:solidFill>
                <a:latin typeface="Barlow Condensed"/>
              </a:rPr>
              <a:t>"El objetivo es el pase olímpico (Mundial Fortaleza 2027) y la medalla de oro (Panamericanos Lima 2027). El equipo está listo. El atleta ya está en el camino. Lo único que falta es tu apoyo."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F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0352" y="662940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0AEC0"/>
                </a:solidFill>
                <a:latin typeface="Barlow Condensed"/>
              </a:rPr>
              <a:t>GERARDO BENÍTEZ · CAMPAÑA OLÍMPICA LA28 · #RoadToLA28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75720" y="662940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A0AEC0"/>
                </a:solidFill>
                <a:latin typeface="Barlow Condensed"/>
              </a:rPr>
              <a:t>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" y="0"/>
            <a:ext cx="12138660" cy="6858000"/>
          </a:xfrm>
          <a:prstGeom prst="rect">
            <a:avLst/>
          </a:prstGeom>
          <a:solidFill>
            <a:srgbClr val="03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" y="1714500"/>
            <a:ext cx="12138660" cy="6400"/>
          </a:xfrm>
          <a:prstGeom prst="rect">
            <a:avLst/>
          </a:prstGeom>
          <a:solidFill>
            <a:srgbClr val="0A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" y="3429000"/>
            <a:ext cx="12138660" cy="6400"/>
          </a:xfrm>
          <a:prstGeom prst="rect">
            <a:avLst/>
          </a:prstGeom>
          <a:solidFill>
            <a:srgbClr val="0A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" y="5143500"/>
            <a:ext cx="12138660" cy="6400"/>
          </a:xfrm>
          <a:prstGeom prst="rect">
            <a:avLst/>
          </a:prstGeom>
          <a:solidFill>
            <a:srgbClr val="0A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79" y="731520"/>
            <a:ext cx="5029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0">
                <a:solidFill>
                  <a:srgbClr val="081828"/>
                </a:solidFill>
                <a:latin typeface="Bebas Neue"/>
              </a:rPr>
              <a:t>28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0F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91440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  <a:latin typeface="Barlow Condensed"/>
              </a:rPr>
              <a:t>🇲🇽  PORT OF LOS ANGELES  ·  JULIO 2028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77240"/>
            <a:ext cx="100584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>
                <a:solidFill>
                  <a:srgbClr val="F0F4F8"/>
                </a:solidFill>
                <a:latin typeface="Bebas Neue"/>
              </a:rPr>
              <a:t>LOS ÁNGELES 2028</a:t>
            </a:r>
          </a:p>
          <a:p>
            <a:r>
              <a:rPr sz="7200">
                <a:solidFill>
                  <a:srgbClr val="C9A84C"/>
                </a:solidFill>
                <a:latin typeface="Bebas Neue"/>
              </a:rPr>
              <a:t>EMPIEZA HOY.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520440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0F4F8"/>
                </a:solidFill>
                <a:latin typeface="Barlow"/>
              </a:rPr>
              <a:t>"La gloria olímpica y México llevan tu nombre."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91363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EC0"/>
                </a:solidFill>
                <a:latin typeface="Barlow Condensed"/>
              </a:rPr>
              <a:t>— Gerardo Benítez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4315968"/>
            <a:ext cx="5166360" cy="1298448"/>
          </a:xfrm>
          <a:prstGeom prst="rect">
            <a:avLst/>
          </a:prstGeom>
          <a:solidFill>
            <a:srgbClr val="0F2A47"/>
          </a:solidFill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4315968"/>
            <a:ext cx="73152" cy="12984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379976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  <a:latin typeface="Barlow Condensed"/>
              </a:rPr>
              <a:t>CONTACTO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645152"/>
            <a:ext cx="4800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4F8"/>
                </a:solidFill>
                <a:latin typeface="Barlow Condensed"/>
              </a:rPr>
              <a:t>📧  gerardo.benitez@vela.mx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919472"/>
            <a:ext cx="4800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  <a:latin typeface="Barlow Condensed"/>
              </a:rPr>
              <a:t>📱  @gerardo.benitezr  (Instagram)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193792"/>
            <a:ext cx="4800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EC0"/>
                </a:solidFill>
                <a:latin typeface="Barlow Condensed"/>
              </a:rPr>
              <a:t>📍  Valle de Bravo, Estado de México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5687568"/>
            <a:ext cx="5166360" cy="5029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576072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5101F"/>
                </a:solidFill>
                <a:latin typeface="Barlow Condensed"/>
              </a:rPr>
              <a:t>→  CONVERSEMOS HOY MISMO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46177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400" b="0" i="0">
                <a:solidFill>
                  <a:srgbClr val="102040"/>
                </a:solidFill>
                <a:latin typeface="Bebas Neue"/>
              </a:rPr>
              <a:t>#RoadToLA28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50749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400" b="0" i="0">
                <a:solidFill>
                  <a:srgbClr val="102040"/>
                </a:solidFill>
                <a:latin typeface="Bebas Neue"/>
              </a:rPr>
              <a:t>#TeamGerardo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55321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400" b="0" i="0">
                <a:solidFill>
                  <a:srgbClr val="102040"/>
                </a:solidFill>
                <a:latin typeface="Bebas Neue"/>
              </a:rPr>
              <a:t>#MexicoToLA28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F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662940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0AEC0"/>
                </a:solidFill>
                <a:latin typeface="Barlow Condensed"/>
              </a:rPr>
              <a:t>GERARDO BENÍTEZ · CAMPAÑA OLÍMPICA LA28 · #RoadToLA28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75720" y="662940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A0AEC0"/>
                </a:solidFill>
                <a:latin typeface="Barlow Condensed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